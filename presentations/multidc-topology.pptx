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Открытие: цель встречи — собрать требования, проверить слова и сценарии. Схема «один моно ЦОД + три мульти ЦОД» взята из описания команды. Правила операций далее взяты из текущего прототипа и требуют подтверждения для реальной системы.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Общая терминология → топология → переключения → требования</a:t>
            </a:r>
          </a:p>
          <a:p/>
          <a:p>
            <a:r>
              <a:t>Что нужно понять, чтобы поддержка могла действовать уверенно?</a:t>
            </a:r>
          </a:p>
          <a:p/>
          <a:p>
            <a:r>
              <a:t>Разбираем устройство системы и собираем требования.</a:t>
            </a:r>
          </a:p>
          <a:p>
            <a:r>
              <a:t>Каждый сценарий — повод обсудить реальный рабочий процесс.</a:t>
            </a:r>
          </a:p>
          <a:p/>
          <a:p>
            <a:r>
              <a:t>Уточнение команды: режим Моно на практике представляет пару контуров Main / StandIn. Эти названия показаны только в презентации; прототип не изменён. Main и StandIn — контуры, а не дополнительные ЦОД. Правила их взаимодействия и переключения между ними здесь не задаются.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утверждать, что моно ЦОД изолирован, является одним из A/B/C или реплицирует данные определённым способом. Это ещё не установлено. Стрелка означает возможность перехода между режимами; она не изображает поток репликации. В прототипе отдельного моно ЦОД нет в таблице шардов.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Концептуальная схема по вашему описанию. A / B / C — условные обозначения.</a:t>
            </a:r>
          </a:p>
          <a:p/>
          <a:p>
            <a:r>
              <a:t>Как связаны данные моно ЦОД и мульти ЦОД? Что меняется при переходе?</a:t>
            </a:r>
          </a:p>
          <a:p/>
          <a:p>
            <a:r>
              <a:t>Связи репликации и правила маршрутизации между режимами — вопрос к команде.</a:t>
            </a:r>
          </a:p>
          <a:p/>
          <a:p>
            <a:r>
              <a:t>Уточнение команды: режим Моно на практике представляет пару контуров Main / StandIn. Эти названия показаны только в презентации; прототип не изменён. Main и StandIn — контуры, а не дополнительные ЦОД. Правила их взаимодействия и переключения между ними здесь не задаются.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Терминология команды: группа — логическая часть данных, представленная тремя шардами. Шард — база данных. В группе один шард выполняет роль мастера, два других — роли реплик. Каждый шард размещён в своём ЦОД. Мастер и реплика — роли шардов, а не отдельные сущности. Термин «экземпляр» исключён из словаря презентации.</a:t>
            </a:r>
          </a:p>
          <a:p/>
          <a:p>
            <a:r>
              <a:t>Устные вопросы: какие идентификаторы группы и шарда нужны поддержке? Можно ли читать с реплик? Политика чтения с реплик в прототипе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Строка — группа, то есть одна логическая часть данных. В каждой строке три базы данных (шарда), по одной в каждом из трёх ЦОД. Один шард является мастером, два других — репликами. Колонка — ЦОД: в нём размещены шарды разных групп. Разные группы могут иметь мастеров в разных ЦОД. Цветная ячейка обозначает мастер; белая — реплику.</a:t>
            </a:r>
          </a:p>
          <a:p/>
          <a:p>
            <a:r>
              <a:t>На схеме показаны первые три группы исходного демо: G01 — мастер в A, G02 — в B, G03 — в C. Номера шардов соответствуют номерам в прототипе. Полный демо-набор: 12 групп, 36 шардов, по четыре мастера в каждом ЦОД. Это демонстрационные числа, а не масштаб реальной системы. Репликация действует внутри группы; схема не задаёт транспорт репликации или связь с контурами Main / StandIn.</a:t>
            </a:r>
          </a:p>
          <a:p/>
          <a:p>
            <a:r>
              <a:t>Устные вопросы: достаточно ли этой схемы, чтобы определить местоположение мастера любой группы? Можно ли читать с реплик? Какое отставание допустимо для наших задач?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публикация флага в ZooKeeper → ожидание подов shard-egress → завершение. 372 пода в трёх пространствах имён — демонстрационные данные. Счётчики Моно и Мульти меняются по ходу перехода. В демо роли мастеров от этого не меняются. Реальную маршрутизацию, синхронизацию данных, возврат и тайм-аут необходимо уточнить.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В демо переход режима показан отдельно от переноса мастеров.</a:t>
            </a:r>
          </a:p>
          <a:p/>
          <a:p>
            <a:r>
              <a:t>Какие проверки нужны до перехода? Что делать, если часть подов не переключилась?</a:t>
            </a:r>
          </a:p>
          <a:p/>
          <a:p>
            <a:r>
              <a:t>Демо показывает общий прогресс и счётчики Моно / Мульти.</a:t>
            </a:r>
          </a:p>
          <a:p>
            <a:r>
              <a:t>Правила маршрутизации и возврата нужно определить с командой.</a:t>
            </a:r>
          </a:p>
          <a:p/>
          <a:p>
            <a:r>
              <a:t>Уточнение команды: режим Моно на практике представляет пару контуров Main / StandIn. Эти названия показаны только в презентации; прототип не изменён. Main и StandIn — контуры, а не дополнительные ЦОД. Правила их взаимодействия и переключения между ними здесь не задаются.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G01 → ЦОД B. В демо нужны доступный текущий мастер, доступная реплика, включённая репликация и отставание не более 1000 мс. 1000 мс — правило прототипа, а не утверждённый производственный порог. Этапы: проверка, отключение старого мастера, применение изменений репликации, включение нового мастера, завершение. Ошибка предварительной проверки не меняет роли.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Внутри одной группы: выбранная реплика становится мастером.</a:t>
            </a:r>
          </a:p>
          <a:p/>
          <a:p>
            <a:r>
              <a:t>Какие проверки обязательны? Кто имеет право подтвердить переключение?</a:t>
            </a:r>
          </a:p>
          <a:p/>
          <a:p>
            <a:r>
              <a:t>В демо: оба доступны, репликация включена, отставание ≤ 1000 мс.</a:t>
            </a:r>
          </a:p>
          <a:p>
            <a:r>
              <a:t>Ошибка предварительной проверки оставляет роли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 не требует доступности прежнего мастера и не ограничивает отставание целевой реплики. Реплика обязана быть доступна и иметь включённую репликацию. Ожидание Kafka-репликации пропускается. Неполные данные — риск, а не утверждение, что потери обязательно произойдут. Реальное гарантированное отключение прежнего мастера и исключение одновременной записи двумя мастерами следует обсудить. Восстановление имеет условные шаги 1, 2, 3, а не реальный регламент.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Отдельный сценарий, когда плановое переключение невозможно.</a:t>
            </a:r>
          </a:p>
          <a:p/>
          <a:p>
            <a:r>
              <a:t>Какой риск неполных данных допустим? Кто принимает это решение?</a:t>
            </a:r>
          </a:p>
          <a:p/>
          <a:p>
            <a:r>
              <a:t>У отставшей реплики могут быть неполные данные.</a:t>
            </a:r>
          </a:p>
          <a:p>
            <a:r>
              <a:t>Как гарантировать, что прежний мастер больше не принимает запись?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демо матрица имеет 12 групп и три ЦОД. План не меняет роли до запуска. Предварительно проверяются все изменённые группы; блокировка любой цели не позволяет запустить весь план. После проверки группы переключаются последовательно G01–G12. Это не означает атомарности всего плана после старта. Поведение при сбое в середине нужно определить.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Один план может содержать переносы разных групп в разные ЦОД.</a:t>
            </a:r>
          </a:p>
          <a:p/>
          <a:p>
            <a:r>
              <a:t>Если сбой случится после первого переноса — продолжать, остановиться или возвращать?</a:t>
            </a:r>
          </a:p>
          <a:p/>
          <a:p>
            <a:r>
              <a:t>Проверка до старта: одна недопустимая цель блокирует запуск всего плана.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Уточнить, что REPLICA_OFFLINE означает отключённую репликацию и не обязано означать физическую недоступность. MASTER_R / MASTER_W — промежуточные обозначения прототипа. Не обещать конкретные права чтения или записи по этим обозначениям без согласованного регламента. История только в памяти браузера; перезагрузка её теряет.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Состояние → причина → допустимое действие → результат.</a:t>
            </a:r>
          </a:p>
          <a:p/>
          <a:p>
            <a:r>
              <a:t>Каких данных не хватает, чтобы разобраться без обращения к разработчику?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действием спросить, что должно произойти, и выдержать паузу. Дать сотруднику поддержки пройти сценарий без подсказок. Фиксировать реальные инциденты, а не оценку нравится/не нравится. Отдельно записать открытые вопросы: названия и связь четырёх ЦОД; состав и идентификаторы групп и шардов; маршрутизация чтения и записи; синхронизация между Моно/Мульти; проверки, права, тайм-аут, возврат, аудит. Назначить ответственного за каждое уточнение.</a:t>
            </a:r>
          </a:p>
          <a:p/>
          <a:p>
            <a:r>
              <a:t>Устные пояснения и вопросы (не показывать на слайде):</a:t>
            </a:r>
          </a:p>
          <a:p>
            <a:r>
              <a:t>Просим реальные примеры и фиксируем разногласия.</a:t>
            </a:r>
          </a:p>
          <a:p/>
          <a:p>
            <a:r>
              <a:t>Каждый: одно обязательное требование и один вопрос, который остался открытым.</a:t>
            </a:r>
          </a:p>
          <a:p/>
          <a:p>
            <a:r>
              <a:t>1. Какие слова и связи на схеме нужно исправить?</a:t>
            </a:r>
          </a:p>
          <a:p>
            <a:r>
              <a:t>2. Какой реальный инцидент пройдём через прототип?</a:t>
            </a:r>
          </a:p>
          <a:p>
            <a:r>
              <a:t>3. Где нужны проверка, согласование или возврат?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Моно и Мульти: как устроена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A33B16"/>
                </a:solidFill>
                <a:latin typeface="DejaVu Sans"/>
              </a:defRPr>
            </a:pPr>
            <a:r>
              <a:t>Моно: Main / StandIn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Мульти: ЦОД A / B /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Четыре ЦОД, два режима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4892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A33B16"/>
                </a:solidFill>
                <a:latin typeface="DejaVu Sans"/>
              </a:defRPr>
            </a:pPr>
            <a:r>
              <a:t>Режим Моно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1 ЦОД · 2 контура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749039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A33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4014215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749039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64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401421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StandIn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337560"/>
            <a:ext cx="685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A33B16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4892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64344E"/>
                </a:solidFill>
                <a:latin typeface="DejaVu Sans"/>
              </a:defRPr>
            </a:pPr>
            <a:r>
              <a:t>Режим Мульти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5468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3 ЦОД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749039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A33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8" y="4050791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ЦОД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749039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64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4050791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ЦОД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3749039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7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0967" y="4050791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ЦОД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Общий словарь: пять терминов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6720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194560"/>
            <a:ext cx="63185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Группа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834640"/>
            <a:ext cx="6318503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Логическая часть данных: три шарда —</a:t>
            </a:r>
          </a:p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один мастер и две реплики.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2011680"/>
            <a:ext cx="37033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7848" y="219456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4344E"/>
                </a:solidFill>
                <a:latin typeface="DejaVu Sans"/>
              </a:defRPr>
            </a:pPr>
            <a:r>
              <a:t>Шард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2834640"/>
            <a:ext cx="3300984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База данных,</a:t>
            </a:r>
          </a:p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входящая в группу.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0624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706D68"/>
                </a:solidFill>
                <a:latin typeface="DejaVu Sans"/>
              </a:defRPr>
            </a:pPr>
            <a:r>
              <a:t>ЦОД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84632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Площадка для</a:t>
            </a:r>
          </a:p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размещения шардов.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420624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Мастер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84632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Шард, выбранный</a:t>
            </a:r>
          </a:p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для записи.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420624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4344E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84632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Шард, получающий</a:t>
            </a:r>
          </a:p>
          <a:p>
            <a:pPr>
              <a:spcAft>
                <a:spcPts val="1000"/>
              </a:spcAft>
              <a:defRPr sz="1900" b="0">
                <a:solidFill>
                  <a:srgbClr val="202C35"/>
                </a:solidFill>
                <a:latin typeface="DejaVu Sans"/>
              </a:defRPr>
            </a:pPr>
            <a:r>
              <a:t>изменения мастера.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Группы и шарды в трёх ЦОД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Группы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7400" y="1645920"/>
            <a:ext cx="2880360" cy="548640"/>
          </a:xfrm>
          <a:prstGeom prst="roundRect">
            <a:avLst>
              <a:gd name="adj" fmla="val 8000"/>
            </a:avLst>
          </a:prstGeom>
          <a:solidFill>
            <a:srgbClr val="A33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58568" y="17739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ЦОД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2880360" cy="548640"/>
          </a:xfrm>
          <a:prstGeom prst="roundRect">
            <a:avLst>
              <a:gd name="adj" fmla="val 8000"/>
            </a:avLst>
          </a:prstGeom>
          <a:solidFill>
            <a:srgbClr val="64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4688" y="17739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ЦОД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645920"/>
            <a:ext cx="2880360" cy="548640"/>
          </a:xfrm>
          <a:prstGeom prst="roundRect">
            <a:avLst>
              <a:gd name="adj" fmla="val 8000"/>
            </a:avLst>
          </a:prstGeom>
          <a:solidFill>
            <a:srgbClr val="7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17739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ЦОД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1576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02C35"/>
                </a:solidFill>
                <a:latin typeface="DejaVu Sans"/>
              </a:defRPr>
            </a:pPr>
            <a:r>
              <a:t>G01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42316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A33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254203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Шард №01 (БД)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3008376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Мастер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42316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254203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Шард №02 (БД)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3008376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9656D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42316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0808" y="254203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Шард №03 (БД)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3008376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9656D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50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02C35"/>
                </a:solidFill>
                <a:latin typeface="DejaVu Sans"/>
              </a:defRPr>
            </a:pPr>
            <a:r>
              <a:t>G02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365760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58568" y="377647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Шард №04 (БД)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4242816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9656D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65760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64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4688" y="377647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Шард №05 (БД)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4242816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Мастер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365760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0808" y="377647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Шард №06 (БД)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4242816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9656D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8464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02C35"/>
                </a:solidFill>
                <a:latin typeface="DejaVu Sans"/>
              </a:defRPr>
            </a:pPr>
            <a:r>
              <a:t>G03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489204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58568" y="501091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Шард №07 (БД)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58568" y="5477255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9656D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489204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4688" y="501091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2C35"/>
                </a:solidFill>
                <a:latin typeface="DejaVu Sans"/>
              </a:defRPr>
            </a:pPr>
            <a:r>
              <a:t>Шард №08 (БД)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5477255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9656D"/>
                </a:solidFill>
                <a:latin typeface="DejaVu Sans"/>
              </a:defRPr>
            </a:pPr>
            <a:r>
              <a:t>Реплика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4892040"/>
            <a:ext cx="2880360" cy="1005840"/>
          </a:xfrm>
          <a:prstGeom prst="roundRect">
            <a:avLst>
              <a:gd name="adj" fmla="val 8000"/>
            </a:avLst>
          </a:prstGeom>
          <a:solidFill>
            <a:srgbClr val="7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8" y="5010912"/>
            <a:ext cx="2478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Шард №09 (БД)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0808" y="5477255"/>
            <a:ext cx="24780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Мастер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Моно (Main / StandIn) ↔ Мульти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154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7523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1 · Флаг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5468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Публикация режима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в ZooKeeper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377440"/>
            <a:ext cx="3154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560320"/>
            <a:ext cx="27523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2 · Поды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15468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Ожидание перехода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shard-egress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377440"/>
            <a:ext cx="3154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560320"/>
            <a:ext cx="27523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3 ·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15468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Завершение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перехода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Плановое переключение мастера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166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A33B16"/>
                </a:solidFill>
                <a:latin typeface="DejaVu Sans"/>
              </a:defRPr>
            </a:pPr>
            <a:r>
              <a:t>До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17520"/>
            <a:ext cx="4764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02C35"/>
                </a:solidFill>
                <a:latin typeface="DejaVu Sans"/>
              </a:defRPr>
            </a:pPr>
            <a:r>
              <a:t>A: MASTER_RW     B: REPLICA_A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40280"/>
            <a:ext cx="5166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2316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64344E"/>
                </a:solidFill>
                <a:latin typeface="DejaVu Sans"/>
              </a:defRPr>
            </a:pPr>
            <a:r>
              <a:t>После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017520"/>
            <a:ext cx="4764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02C35"/>
                </a:solidFill>
                <a:latin typeface="DejaVu Sans"/>
              </a:defRPr>
            </a:pPr>
            <a:r>
              <a:t>A: REPLICA_A     B: MASTER_RW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02C35"/>
                </a:solidFill>
                <a:latin typeface="DejaVu Sans"/>
              </a:defRPr>
            </a:pPr>
            <a:r>
              <a:t>Проверки → отключение старого → репликация → включение нового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Экстренное переключение и восстановление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51663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Экстренное переключение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63240"/>
            <a:ext cx="47640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Доступная реплика; репликация включена.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Без ожидания Kafka-репликации.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51663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4344E"/>
                </a:solidFill>
                <a:latin typeface="DejaVu Sans"/>
              </a:defRPr>
            </a:pPr>
            <a:r>
              <a:t>Восстановление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063240"/>
            <a:ext cx="47640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MASTER_OFFLINE → RECOVERY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→ REPLICA_A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Распределение мастеров по ЦОД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51663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Пример плана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63240"/>
            <a:ext cx="4764024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G01: A → C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G02: B → A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G03: C →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51663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4344E"/>
                </a:solidFill>
                <a:latin typeface="DejaVu Sans"/>
              </a:defRPr>
            </a:pPr>
            <a:r>
              <a:t>Правила демо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063240"/>
            <a:ext cx="4764024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Сначала проверка всего плана.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Затем переносы по очереди.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Остальные группы остаются на месте.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Что поддержка должна видеть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4344E"/>
                </a:solidFill>
                <a:latin typeface="DejaVu Sans"/>
              </a:defRPr>
            </a:pPr>
            <a:r>
              <a:t>Статусы в интерфейсе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71800"/>
            <a:ext cx="4764024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MASTER_RW / REPLICA_A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REPLICA_OFFLINE: репликация выключена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MASTER_R / MASTER_W: передача роли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MASTER_OFFLINE /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37744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A33B16"/>
                </a:solidFill>
                <a:latin typeface="DejaVu Sans"/>
              </a:defRPr>
            </a:pPr>
            <a:r>
              <a:t>Показать в прототипе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971800"/>
            <a:ext cx="4764024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Поиск и проблемные группы.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Причина блокировки действия.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Этапы операции и результат.</a:t>
            </a:r>
          </a:p>
          <a:p>
            <a:pPr>
              <a:spcAft>
                <a:spcPts val="1000"/>
              </a:spcAft>
              <a:defRPr sz="2000" b="0">
                <a:solidFill>
                  <a:srgbClr val="202C35"/>
                </a:solidFill>
                <a:latin typeface="DejaVu Sans"/>
              </a:defRPr>
            </a:pPr>
            <a:r>
              <a:t>История текущей сессии.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C35"/>
                </a:solidFill>
                <a:latin typeface="DejaVu Sans"/>
              </a:defRPr>
            </a:pPr>
            <a:r>
              <a:t>Результат встречи — требования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091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A33B16"/>
                </a:solidFill>
                <a:latin typeface="DejaVu Sans"/>
              </a:defRPr>
            </a:pPr>
            <a:r>
              <a:t>Ситуация → нужное поведение → критерий успеха → кто уточнит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МультиЦОД: топология, термины и переключения</dc:title>
  <dc:subject>Презентация для поддержки и сбора требований</dc:subject>
  <dc:creator>Команда проекта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